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Boas-vindas. Deixe claro em uma frase o que vem: uma ferramenta nova na mão do representante, com uma contrapartida clara. Cinco minutos de apresentação, depois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Ancorar o problema em um número só. Não é falta de cliente, é falta de recompra. E isso não se resolve com rota nova, se resolve com gestão de carteira.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prêmio primeiro. É uma tabela própria da campanha, não um desconto pontual. Vale para toda a carteira, inclusive inativo e cliente novo. Não comparar com a Tabela Clube — o Clube tem contrato, garantia de giro, 12 parcelas e prioridade logística, que a Tabela Gestor não 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números e nada mais. Repetir em voz alta: as duas juntas. Atingir só uma não mantém a tabela.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tarja de baixo é o ponto mais importante de toda a apresentação. O inativo entra no numerador e não no denominador. É o caminho mais rápido para os 45%.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transforma a campanha em tarefa. Diga: cada um de vocês vai receber a sua própria conta. Não é 45% no abstrato, é um número de clientes que você já conhece pelo nome.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Compromisso da Nitron: transparência total. Cada um recebe a ficha individual e acompanha o próprio número mensalmente.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Tirar o medo. Ninguém tem preço retirado do balcão por causa do resultado do representante. E o retorno é automático, sem carência e sem pedir.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importante: não estamos prometendo dois anos de campanha. Este ciclo é o que define as regras do ano que vem. O desempenho de vocês agora escreve o regulamento de 2027.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Repetir os três números uma última vez e abrir para perguntas. As dúvidas mais prováveis: como conta pedido dividido em duas notas, o que acontece com cliente que fechou, e se Key Account entra na conta.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7373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500" kern="0" dirty="0">
                <a:solidFill>
                  <a:srgbClr val="D97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2026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Gestor de Carteira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35661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9D6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Tabela Gestor na sua mão.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4480560"/>
            <a:ext cx="2377440" cy="64008"/>
          </a:xfrm>
          <a:prstGeom prst="rect">
            <a:avLst/>
          </a:prstGeom>
          <a:solidFill>
            <a:srgbClr val="D9743A"/>
          </a:solidFill>
          <a:ln w="12700">
            <a:solidFill>
              <a:srgbClr val="D97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7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Setembro a dezembro de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essa campanha existe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10698480" cy="1828800"/>
          </a:xfrm>
          <a:prstGeom prst="roundRect">
            <a:avLst>
              <a:gd name="adj" fmla="val 7000"/>
            </a:avLst>
          </a:prstGeom>
          <a:solidFill>
            <a:srgbClr val="F6E7DC"/>
          </a:solidFill>
          <a:ln w="12700">
            <a:solidFill>
              <a:srgbClr val="F6E7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205740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8A3D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nossos clientes compra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265176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A3D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única vez por ano.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31520" y="4023360"/>
            <a:ext cx="10698480" cy="2011680"/>
          </a:xfrm>
          <a:prstGeom prst="roundRect">
            <a:avLst>
              <a:gd name="adj" fmla="val 6364"/>
            </a:avLst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434340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9D6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precisamos de mais clientes.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88720" y="493776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Precisamos que os seus comprem mais vezes.</a:t>
            </a:r>
            <a:endParaRPr lang="en-US" sz="3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recebe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10698480" cy="1371600"/>
          </a:xfrm>
          <a:prstGeom prst="roundRect">
            <a:avLst>
              <a:gd name="adj" fmla="val 9333"/>
            </a:avLst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205740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Tabela Gestor para usar na sua carteira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3383280"/>
            <a:ext cx="3364992" cy="1828800"/>
          </a:xfrm>
          <a:prstGeom prst="roundRect">
            <a:avLst>
              <a:gd name="adj" fmla="val 7000"/>
            </a:avLst>
          </a:prstGeom>
          <a:solidFill>
            <a:srgbClr val="F4F3EF"/>
          </a:solidFill>
          <a:ln w="12700">
            <a:solidFill>
              <a:srgbClr val="F4F3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657600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7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4069080"/>
            <a:ext cx="28163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3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Gestor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4370832" y="3383280"/>
            <a:ext cx="3364992" cy="1828800"/>
          </a:xfrm>
          <a:prstGeom prst="roundRect">
            <a:avLst>
              <a:gd name="adj" fmla="val 7000"/>
            </a:avLst>
          </a:prstGeom>
          <a:solidFill>
            <a:srgbClr val="F4F3EF"/>
          </a:solidFill>
          <a:ln w="12700">
            <a:solidFill>
              <a:srgbClr val="F4F3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3657600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7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45152" y="4069080"/>
            <a:ext cx="28163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3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dias</a:t>
            </a:r>
            <a:endParaRPr lang="en-US" sz="23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23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no Norte e Nordeste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8010144" y="3383280"/>
            <a:ext cx="3364992" cy="1828800"/>
          </a:xfrm>
          <a:prstGeom prst="roundRect">
            <a:avLst>
              <a:gd name="adj" fmla="val 7000"/>
            </a:avLst>
          </a:prstGeom>
          <a:solidFill>
            <a:srgbClr val="F4F3EF"/>
          </a:solidFill>
          <a:ln w="12700">
            <a:solidFill>
              <a:srgbClr val="F4F3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84464" y="3657600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7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para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84464" y="4069080"/>
            <a:ext cx="28163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3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qualquer cliente seu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ativo, cliente inativo ou cliente novo. Com crédito aprovado e nas condições de pagamento aprovadas.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entrega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31520" y="1783080"/>
            <a:ext cx="5212080" cy="3291840"/>
          </a:xfrm>
          <a:prstGeom prst="roundRect">
            <a:avLst>
              <a:gd name="adj" fmla="val 3889"/>
            </a:avLst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219456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9200" dirty="0"/>
          </a:p>
        </p:txBody>
      </p:sp>
      <p:sp>
        <p:nvSpPr>
          <p:cNvPr id="5" name="Text 3"/>
          <p:cNvSpPr/>
          <p:nvPr/>
        </p:nvSpPr>
        <p:spPr>
          <a:xfrm>
            <a:off x="1097280" y="37033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sua carteira positivada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199632" y="1783080"/>
            <a:ext cx="5212080" cy="3291840"/>
          </a:xfrm>
          <a:prstGeom prst="roundRect">
            <a:avLst>
              <a:gd name="adj" fmla="val 3889"/>
            </a:avLst>
          </a:prstGeom>
          <a:solidFill>
            <a:srgbClr val="F4F3EF"/>
          </a:solidFill>
          <a:ln w="12700">
            <a:solidFill>
              <a:srgbClr val="F4F3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73952" y="219456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9200" dirty="0"/>
          </a:p>
        </p:txBody>
      </p:sp>
      <p:sp>
        <p:nvSpPr>
          <p:cNvPr id="8" name="Text 6"/>
          <p:cNvSpPr/>
          <p:nvPr/>
        </p:nvSpPr>
        <p:spPr>
          <a:xfrm>
            <a:off x="6565392" y="37033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sua meta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31520" y="5349240"/>
            <a:ext cx="10698480" cy="1005840"/>
          </a:xfrm>
          <a:prstGeom prst="roundRect">
            <a:avLst>
              <a:gd name="adj" fmla="val 12727"/>
            </a:avLst>
          </a:prstGeom>
          <a:solidFill>
            <a:srgbClr val="0E2620"/>
          </a:solidFill>
          <a:ln w="12700">
            <a:solidFill>
              <a:srgbClr val="0E26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605272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cada ciclo de 4 meses. As duas juntas.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positivar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10698480" cy="1463040"/>
          </a:xfrm>
          <a:prstGeom prst="roundRect">
            <a:avLst>
              <a:gd name="adj" fmla="val 8750"/>
            </a:avLst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9202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cliente comprou.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88720" y="2514600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faturado de R$ 3.500 ou mais, dentro dos 4 meses.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3474720"/>
            <a:ext cx="5212080" cy="1828800"/>
          </a:xfrm>
          <a:prstGeom prst="roundRect">
            <a:avLst>
              <a:gd name="adj" fmla="val 7000"/>
            </a:avLst>
          </a:prstGeom>
          <a:solidFill>
            <a:srgbClr val="F4F3EF"/>
          </a:solidFill>
          <a:ln w="12700">
            <a:solidFill>
              <a:srgbClr val="F4F3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41148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seu que comprou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inativo que voltou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novo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217920" y="3474720"/>
            <a:ext cx="5212080" cy="1828800"/>
          </a:xfrm>
          <a:prstGeom prst="roundRect">
            <a:avLst>
              <a:gd name="adj" fmla="val 7000"/>
            </a:avLst>
          </a:prstGeom>
          <a:solidFill>
            <a:srgbClr val="F4F3EF"/>
          </a:solidFill>
          <a:ln w="12700">
            <a:solidFill>
              <a:srgbClr val="F4F3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8A3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41148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abaixo de R$ 3.500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cancelado ou devolvido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Bonificação, troca, garantia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31520" y="5532120"/>
            <a:ext cx="10698480" cy="1005840"/>
          </a:xfrm>
          <a:prstGeom prst="roundRect">
            <a:avLst>
              <a:gd name="adj" fmla="val 12727"/>
            </a:avLst>
          </a:prstGeom>
          <a:solidFill>
            <a:srgbClr val="F6E7DC"/>
          </a:solidFill>
          <a:ln w="12700">
            <a:solidFill>
              <a:srgbClr val="F6E7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5788152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3D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 que você reativa conta e não aumenta sua carteira.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Sua conta, na prática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representante com 45 clientes na carteira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2514600" cy="2468880"/>
          </a:xfrm>
          <a:prstGeom prst="roundRect">
            <a:avLst>
              <a:gd name="adj" fmla="val 5185"/>
            </a:avLst>
          </a:prstGeom>
          <a:solidFill>
            <a:srgbClr val="F4F3EF"/>
          </a:solidFill>
          <a:ln w="12700">
            <a:solidFill>
              <a:srgbClr val="F4F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3317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960120" y="35204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na sua carteira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182112" y="306324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4C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56432" y="2011680"/>
            <a:ext cx="2514600" cy="2468880"/>
          </a:xfrm>
          <a:prstGeom prst="roundRect">
            <a:avLst>
              <a:gd name="adj" fmla="val 5185"/>
            </a:avLst>
          </a:prstGeom>
          <a:solidFill>
            <a:srgbClr val="F4F3EF"/>
          </a:solidFill>
          <a:ln w="12700">
            <a:solidFill>
              <a:srgbClr val="F4F3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23317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6800" dirty="0"/>
          </a:p>
        </p:txBody>
      </p:sp>
      <p:sp>
        <p:nvSpPr>
          <p:cNvPr id="10" name="Text 8"/>
          <p:cNvSpPr/>
          <p:nvPr/>
        </p:nvSpPr>
        <p:spPr>
          <a:xfrm>
            <a:off x="3685032" y="35204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seu alvo (50%)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07024" y="306324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4C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181344" y="2011680"/>
            <a:ext cx="2514600" cy="2468880"/>
          </a:xfrm>
          <a:prstGeom prst="roundRect">
            <a:avLst>
              <a:gd name="adj" fmla="val 5185"/>
            </a:avLst>
          </a:prstGeom>
          <a:solidFill>
            <a:srgbClr val="F4F3EF"/>
          </a:solidFill>
          <a:ln w="12700">
            <a:solidFill>
              <a:srgbClr val="F4F3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72784" y="23317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6800" dirty="0"/>
          </a:p>
        </p:txBody>
      </p:sp>
      <p:sp>
        <p:nvSpPr>
          <p:cNvPr id="14" name="Text 12"/>
          <p:cNvSpPr/>
          <p:nvPr/>
        </p:nvSpPr>
        <p:spPr>
          <a:xfrm>
            <a:off x="6409944" y="35204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positivou no último ciclo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31936" y="306324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4C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906256" y="2011680"/>
            <a:ext cx="2514600" cy="2468880"/>
          </a:xfrm>
          <a:prstGeom prst="roundRect">
            <a:avLst>
              <a:gd name="adj" fmla="val 5185"/>
            </a:avLst>
          </a:prstGeom>
          <a:solidFill>
            <a:srgbClr val="D9743A"/>
          </a:solidFill>
          <a:ln w="12700">
            <a:solidFill>
              <a:srgbClr val="D974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97696" y="23317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800" dirty="0"/>
          </a:p>
        </p:txBody>
      </p:sp>
      <p:sp>
        <p:nvSpPr>
          <p:cNvPr id="18" name="Text 16"/>
          <p:cNvSpPr/>
          <p:nvPr/>
        </p:nvSpPr>
        <p:spPr>
          <a:xfrm>
            <a:off x="9134856" y="35204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B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que falta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1520" y="4754880"/>
            <a:ext cx="10698480" cy="1737360"/>
          </a:xfrm>
          <a:prstGeom prst="roundRect">
            <a:avLst>
              <a:gd name="adj" fmla="val 7368"/>
            </a:avLst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502920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clientes em quatro meses.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1188720" y="566928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esse representante tem 53 inativos na carteira para buscar.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vai receber o seu número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10698480" cy="3657600"/>
          </a:xfrm>
          <a:prstGeom prst="roundRect">
            <a:avLst>
              <a:gd name="adj" fmla="val 3500"/>
            </a:avLst>
          </a:prstGeom>
          <a:solidFill>
            <a:srgbClr val="F4F3EF"/>
          </a:solidFill>
          <a:ln w="12700">
            <a:solidFill>
              <a:srgbClr val="F4F3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0" y="2359152"/>
            <a:ext cx="201168" cy="201168"/>
          </a:xfrm>
          <a:prstGeom prst="ellipse">
            <a:avLst/>
          </a:prstGeom>
          <a:solidFill>
            <a:srgbClr val="D9743A"/>
          </a:solidFill>
          <a:ln w="12700">
            <a:solidFill>
              <a:srgbClr val="D97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83080" y="2240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clientes você tem na carteira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80160" y="2999232"/>
            <a:ext cx="201168" cy="201168"/>
          </a:xfrm>
          <a:prstGeom prst="ellipse">
            <a:avLst/>
          </a:prstGeom>
          <a:solidFill>
            <a:srgbClr val="D9743A"/>
          </a:solidFill>
          <a:ln w="12700">
            <a:solidFill>
              <a:srgbClr val="D974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83080" y="28803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precisa positivar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1280160" y="3639312"/>
            <a:ext cx="201168" cy="201168"/>
          </a:xfrm>
          <a:prstGeom prst="ellipse">
            <a:avLst/>
          </a:prstGeom>
          <a:solidFill>
            <a:srgbClr val="D9743A"/>
          </a:solidFill>
          <a:ln w="12700">
            <a:solidFill>
              <a:srgbClr val="D97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83080" y="3520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positivou no último ciclo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1280160" y="4279392"/>
            <a:ext cx="201168" cy="201168"/>
          </a:xfrm>
          <a:prstGeom prst="ellipse">
            <a:avLst/>
          </a:prstGeom>
          <a:solidFill>
            <a:srgbClr val="D9743A"/>
          </a:solidFill>
          <a:ln w="12700">
            <a:solidFill>
              <a:srgbClr val="D974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83080" y="4160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faltam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1280160" y="4919472"/>
            <a:ext cx="201168" cy="201168"/>
          </a:xfrm>
          <a:prstGeom prst="ellipse">
            <a:avLst/>
          </a:prstGeom>
          <a:solidFill>
            <a:srgbClr val="D9743A"/>
          </a:solidFill>
          <a:ln w="12700">
            <a:solidFill>
              <a:srgbClr val="D974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83080" y="4800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inativos você tem para buscar</a:t>
            </a:r>
            <a:endParaRPr lang="en-US" sz="2500" dirty="0"/>
          </a:p>
        </p:txBody>
      </p:sp>
      <p:sp>
        <p:nvSpPr>
          <p:cNvPr id="14" name="Shape 12"/>
          <p:cNvSpPr/>
          <p:nvPr/>
        </p:nvSpPr>
        <p:spPr>
          <a:xfrm>
            <a:off x="731520" y="5715000"/>
            <a:ext cx="10698480" cy="868680"/>
          </a:xfrm>
          <a:prstGeom prst="roundRect">
            <a:avLst>
              <a:gd name="adj" fmla="val 14737"/>
            </a:avLst>
          </a:prstGeom>
          <a:solidFill>
            <a:srgbClr val="0E2620"/>
          </a:solidFill>
          <a:ln w="12700">
            <a:solidFill>
              <a:srgbClr val="0E26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o painel atualizado todo mês. Sem surpresa no fechamento.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se eu não atingir?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10698480" cy="1143000"/>
          </a:xfrm>
          <a:prstGeom prst="roundRect">
            <a:avLst>
              <a:gd name="adj" fmla="val 11200"/>
            </a:avLst>
          </a:prstGeom>
          <a:solidFill>
            <a:srgbClr val="F6E7DC"/>
          </a:solidFill>
          <a:ln w="12700">
            <a:solidFill>
              <a:srgbClr val="F6E7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A3D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Seus clientes que compraram continuam com o preço.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1520" y="3154680"/>
            <a:ext cx="3364992" cy="2286000"/>
          </a:xfrm>
          <a:prstGeom prst="roundRect">
            <a:avLst>
              <a:gd name="adj" fmla="val 5600"/>
            </a:avLst>
          </a:prstGeom>
          <a:solidFill>
            <a:srgbClr val="F4F3EF"/>
          </a:solidFill>
          <a:ln w="12700">
            <a:solidFill>
              <a:srgbClr val="F4F3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3429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A3D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PERDE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51560" y="41605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tabela para cliente que ainda não tem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70832" y="3154680"/>
            <a:ext cx="3364992" cy="2286000"/>
          </a:xfrm>
          <a:prstGeom prst="roundRect">
            <a:avLst>
              <a:gd name="adj" fmla="val 5600"/>
            </a:avLst>
          </a:prstGeom>
          <a:solidFill>
            <a:srgbClr val="F4F3EF"/>
          </a:solidFill>
          <a:ln w="12700">
            <a:solidFill>
              <a:srgbClr val="F4F3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90872" y="3429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MANTÉM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690872" y="41605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tabela de quem já comprou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010144" y="3154680"/>
            <a:ext cx="3364992" cy="2286000"/>
          </a:xfrm>
          <a:prstGeom prst="roundRect">
            <a:avLst>
              <a:gd name="adj" fmla="val 5600"/>
            </a:avLst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30184" y="3429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VOLTA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30184" y="41605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Atingindo as duas no ciclo seguinte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31520" y="5669280"/>
            <a:ext cx="10698480" cy="914400"/>
          </a:xfrm>
          <a:prstGeom prst="roundRect">
            <a:avLst>
              <a:gd name="adj" fmla="val 14000"/>
            </a:avLst>
          </a:prstGeom>
          <a:solidFill>
            <a:srgbClr val="0E2620"/>
          </a:solidFill>
          <a:ln w="12700">
            <a:solidFill>
              <a:srgbClr val="0E26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591616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 do Clube nunca é afetado. Nunca.</a:t>
            </a:r>
            <a:endParaRPr lang="en-US" sz="2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Gestor e Clube Nitron</a:t>
            </a:r>
            <a:endParaRPr lang="en-US" sz="4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54480"/>
          <a:ext cx="10698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651760"/>
                <a:gridCol w="2651760"/>
                <a:gridCol w="26517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TABELA PADRÃO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TABELA GESTOR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CLUBE NITRON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Tabela de preço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Padrão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Tabela Gestor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Tabela Clube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Pedido mínimo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R$ 2.500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R$ 3.500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R$ 2.500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Desconto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política comercial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já no preço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já no preço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Prazo médio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política comercial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dias · 60 N/NE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12x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Garantia de giro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8A3D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8A3D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Prioridade logística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8A3D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8A3D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Promoções exclusivas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8A3D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8A3D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Permanência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política comercial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ciclos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sempre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Sua comissão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política comercial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política vigente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D97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 tabela Varejo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Tabela Gestor e a Tabela Clube não recebem desconto: ele já está no preço. Mesmo assim, saem melhor que a tabela padrão com o desconto máximo da política.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comissão de 9% vale para os contratos Clube novos que você converter.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31520" y="6263640"/>
            <a:ext cx="10698480" cy="502920"/>
          </a:xfrm>
          <a:prstGeom prst="roundRect">
            <a:avLst>
              <a:gd name="adj" fmla="val 25455"/>
            </a:avLst>
          </a:prstGeom>
          <a:solidFill>
            <a:srgbClr val="0E2620"/>
          </a:solidFill>
          <a:ln w="12700">
            <a:solidFill>
              <a:srgbClr val="0E262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Tabela Gestor abre a porta. O Clube mantém ela aberta.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datas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3364992" cy="2468880"/>
          </a:xfrm>
          <a:prstGeom prst="roundRect">
            <a:avLst>
              <a:gd name="adj" fmla="val 5185"/>
            </a:avLst>
          </a:prstGeom>
          <a:solidFill>
            <a:srgbClr val="F4F3EF"/>
          </a:solidFill>
          <a:ln w="12700">
            <a:solidFill>
              <a:srgbClr val="F4F3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2103120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97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SET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560320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Começa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05840" y="3291840"/>
            <a:ext cx="2816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recebe sua carteira e seu número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70832" y="1828800"/>
            <a:ext cx="3364992" cy="2468880"/>
          </a:xfrm>
          <a:prstGeom prst="roundRect">
            <a:avLst>
              <a:gd name="adj" fmla="val 5185"/>
            </a:avLst>
          </a:prstGeom>
          <a:solidFill>
            <a:srgbClr val="F4F3EF"/>
          </a:solidFill>
          <a:ln w="12700">
            <a:solidFill>
              <a:srgbClr val="F4F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2103120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97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DEZ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45152" y="2560320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joga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645152" y="3291840"/>
            <a:ext cx="2816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todo mês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010144" y="1828800"/>
            <a:ext cx="3364992" cy="2468880"/>
          </a:xfrm>
          <a:prstGeom prst="roundRect">
            <a:avLst>
              <a:gd name="adj" fmla="val 5185"/>
            </a:avLst>
          </a:prstGeom>
          <a:solidFill>
            <a:srgbClr val="F4F3EF"/>
          </a:solidFill>
          <a:ln w="12700">
            <a:solidFill>
              <a:srgbClr val="F4F3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84464" y="2103120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97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JAN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84464" y="2560320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84464" y="3291840"/>
            <a:ext cx="2816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Apuração oficial do ciclo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31520" y="4572000"/>
            <a:ext cx="10698480" cy="1828800"/>
          </a:xfrm>
          <a:prstGeom prst="roundRect">
            <a:avLst>
              <a:gd name="adj" fmla="val 7000"/>
            </a:avLst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484632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Este ciclo define 2027.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188720" y="548640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Setembro a dezembro é o único ciclo confirmado. Em janeiro, com o resultado na mão, a Nitron define as regras de 2027 e comunica até o dia 31.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9202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C9D6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meses.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Tabela Gestor na sua mão.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4023360"/>
            <a:ext cx="2377440" cy="64008"/>
          </a:xfrm>
          <a:prstGeom prst="rect">
            <a:avLst/>
          </a:prstGeom>
          <a:solidFill>
            <a:srgbClr val="D9743A"/>
          </a:solidFill>
          <a:ln w="12700">
            <a:solidFill>
              <a:srgbClr val="D97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44348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D97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da carteira positivada   ·   90% da meta   ·   pedido mínimo de R$ 3.500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53035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Perguntas?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2026-09-03T16:14:41Z</dcterms:created>
  <dcterms:modified xsi:type="dcterms:W3CDTF">2026-09-03T16:14:41Z</dcterms:modified>
</cp:coreProperties>
</file>